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5" r:id="rId3"/>
    <p:sldId id="286" r:id="rId4"/>
    <p:sldId id="280" r:id="rId5"/>
    <p:sldId id="279" r:id="rId6"/>
    <p:sldId id="281" r:id="rId7"/>
    <p:sldId id="282" r:id="rId8"/>
    <p:sldId id="283" r:id="rId9"/>
    <p:sldId id="256" r:id="rId10"/>
    <p:sldId id="257" r:id="rId11"/>
    <p:sldId id="258" r:id="rId12"/>
    <p:sldId id="259" r:id="rId13"/>
    <p:sldId id="260" r:id="rId14"/>
    <p:sldId id="261" r:id="rId15"/>
    <p:sldId id="262" r:id="rId16"/>
    <p:sldId id="263" r:id="rId17"/>
    <p:sldId id="264" r:id="rId18"/>
    <p:sldId id="268" r:id="rId19"/>
    <p:sldId id="26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78" d="100"/>
          <a:sy n="78" d="100"/>
        </p:scale>
        <p:origin x="1608"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wikiwand.com/en/Dimension" TargetMode="External"/><Relationship Id="rId2" Type="http://schemas.openxmlformats.org/officeDocument/2006/relationships/hyperlink" Target="https://www.wikiwand.com/en/Information_assurance"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wikiwand.com/en/Rubik's_Cube"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www.wikiwand.com/en/Information_assuranc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wikiwand.com/en/Integrity" TargetMode="External"/><Relationship Id="rId2" Type="http://schemas.openxmlformats.org/officeDocument/2006/relationships/hyperlink" Target="https://www.wikiwand.com/en/Confidentiality" TargetMode="External"/><Relationship Id="rId1" Type="http://schemas.openxmlformats.org/officeDocument/2006/relationships/slideLayout" Target="../slideLayouts/slideLayout2.xml"/><Relationship Id="rId4" Type="http://schemas.openxmlformats.org/officeDocument/2006/relationships/hyperlink" Target="https://www.wikiwand.com/en/Availability"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wikiwand.com/en/Data_in_transi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wikiwand.com/en/Information_assuranc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2FEDA78-C92B-4332-8E03-38EC03F4BD23}"/>
              </a:ext>
            </a:extLst>
          </p:cNvPr>
          <p:cNvSpPr>
            <a:spLocks noGrp="1"/>
          </p:cNvSpPr>
          <p:nvPr>
            <p:ph type="subTitle" idx="1"/>
          </p:nvPr>
        </p:nvSpPr>
        <p:spPr>
          <a:xfrm>
            <a:off x="304800" y="381000"/>
            <a:ext cx="8686800" cy="6477000"/>
          </a:xfrm>
        </p:spPr>
        <p:txBody>
          <a:bodyPr>
            <a:noAutofit/>
          </a:bodyPr>
          <a:lstStyle/>
          <a:p>
            <a:pPr lvl="0" algn="just"/>
            <a:r>
              <a:rPr lang="en-US" sz="2400" b="1" dirty="0">
                <a:solidFill>
                  <a:schemeClr val="tx1"/>
                </a:solidFill>
              </a:rPr>
              <a:t>Hacking Methods</a:t>
            </a:r>
          </a:p>
          <a:p>
            <a:pPr lvl="0" algn="just"/>
            <a:r>
              <a:rPr lang="en-US" sz="2400" b="1" dirty="0">
                <a:solidFill>
                  <a:schemeClr val="tx1"/>
                </a:solidFill>
              </a:rPr>
              <a:t>1)</a:t>
            </a:r>
            <a:r>
              <a:rPr lang="en-US" sz="2400" b="1" dirty="0" err="1">
                <a:solidFill>
                  <a:schemeClr val="tx1"/>
                </a:solidFill>
              </a:rPr>
              <a:t>Footprinting</a:t>
            </a:r>
            <a:r>
              <a:rPr lang="en-US" sz="2400" dirty="0">
                <a:solidFill>
                  <a:schemeClr val="tx1"/>
                </a:solidFill>
              </a:rPr>
              <a:t> – the process of using passive methods of gaining information about the target system prior to performing the attack. The interaction with the target system is kept at minimum in order to avoid detection and alert the target about the attack. </a:t>
            </a:r>
          </a:p>
          <a:p>
            <a:pPr marL="342900" lvl="0" indent="-342900" algn="just">
              <a:buFont typeface="Arial" panose="020B0604020202020204" pitchFamily="34" charset="0"/>
              <a:buChar char="•"/>
            </a:pPr>
            <a:r>
              <a:rPr lang="en-US" sz="2400" dirty="0">
                <a:solidFill>
                  <a:schemeClr val="tx1"/>
                </a:solidFill>
              </a:rPr>
              <a:t>The </a:t>
            </a:r>
            <a:r>
              <a:rPr lang="en-US" sz="2400" dirty="0" err="1">
                <a:solidFill>
                  <a:schemeClr val="tx1"/>
                </a:solidFill>
              </a:rPr>
              <a:t>footprinting</a:t>
            </a:r>
            <a:r>
              <a:rPr lang="en-US" sz="2400" dirty="0">
                <a:solidFill>
                  <a:schemeClr val="tx1"/>
                </a:solidFill>
              </a:rPr>
              <a:t> can reveal vulnerabilities of the target system and improve the ease with which they can be exploited. </a:t>
            </a:r>
          </a:p>
          <a:p>
            <a:pPr lvl="0" algn="just"/>
            <a:endParaRPr lang="en-US" sz="2400" dirty="0">
              <a:solidFill>
                <a:schemeClr val="tx1"/>
              </a:solidFill>
            </a:endParaRPr>
          </a:p>
          <a:p>
            <a:pPr marL="342900" lvl="0" indent="-342900" algn="just">
              <a:buFont typeface="Arial" panose="020B0604020202020204" pitchFamily="34" charset="0"/>
              <a:buChar char="•"/>
            </a:pPr>
            <a:r>
              <a:rPr lang="en-US" sz="2400" dirty="0" err="1">
                <a:solidFill>
                  <a:schemeClr val="tx1"/>
                </a:solidFill>
              </a:rPr>
              <a:t>whois</a:t>
            </a:r>
            <a:r>
              <a:rPr lang="en-US" sz="2400" dirty="0">
                <a:solidFill>
                  <a:schemeClr val="tx1"/>
                </a:solidFill>
              </a:rPr>
              <a:t> queries, Google searches, job boards search, network enumeration, operating system identification, etc.</a:t>
            </a:r>
          </a:p>
          <a:p>
            <a:pPr lvl="0" algn="just"/>
            <a:r>
              <a:rPr lang="en-US" sz="2400" b="1" dirty="0">
                <a:solidFill>
                  <a:schemeClr val="tx1"/>
                </a:solidFill>
              </a:rPr>
              <a:t>2)Scanning</a:t>
            </a:r>
            <a:r>
              <a:rPr lang="en-US" sz="2400" dirty="0">
                <a:solidFill>
                  <a:schemeClr val="tx1"/>
                </a:solidFill>
              </a:rPr>
              <a:t> – the process of taking information obtained from the </a:t>
            </a:r>
            <a:r>
              <a:rPr lang="en-US" sz="2400" dirty="0" err="1">
                <a:solidFill>
                  <a:schemeClr val="tx1"/>
                </a:solidFill>
              </a:rPr>
              <a:t>footprinting</a:t>
            </a:r>
            <a:r>
              <a:rPr lang="en-US" sz="2400" dirty="0">
                <a:solidFill>
                  <a:schemeClr val="tx1"/>
                </a:solidFill>
              </a:rPr>
              <a:t> phase in order to target the attack more precisely. </a:t>
            </a:r>
          </a:p>
          <a:p>
            <a:pPr marL="342900" lvl="0" indent="-342900" algn="just">
              <a:buFont typeface="Arial" panose="020B0604020202020204" pitchFamily="34" charset="0"/>
              <a:buChar char="•"/>
            </a:pPr>
            <a:r>
              <a:rPr lang="en-US" sz="2400" dirty="0">
                <a:solidFill>
                  <a:schemeClr val="tx1"/>
                </a:solidFill>
              </a:rPr>
              <a:t>Some of the </a:t>
            </a:r>
            <a:r>
              <a:rPr lang="en-US" sz="2400" dirty="0" err="1">
                <a:solidFill>
                  <a:schemeClr val="tx1"/>
                </a:solidFill>
              </a:rPr>
              <a:t>metods</a:t>
            </a:r>
            <a:r>
              <a:rPr lang="en-US" sz="2400" dirty="0">
                <a:solidFill>
                  <a:schemeClr val="tx1"/>
                </a:solidFill>
              </a:rPr>
              <a:t> used in this phase are port scans, ping sweeps, operating systems detection, observation of facilities used by the target, and so on.</a:t>
            </a:r>
          </a:p>
          <a:p>
            <a:pPr algn="just"/>
            <a:endParaRPr lang="en-US" sz="2400" dirty="0">
              <a:solidFill>
                <a:schemeClr val="tx1"/>
              </a:solidFill>
            </a:endParaRPr>
          </a:p>
        </p:txBody>
      </p:sp>
    </p:spTree>
    <p:extLst>
      <p:ext uri="{BB962C8B-B14F-4D97-AF65-F5344CB8AC3E}">
        <p14:creationId xmlns:p14="http://schemas.microsoft.com/office/powerpoint/2010/main" val="1540727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D30478-527A-485B-9FEE-BDA7E45D673F}"/>
              </a:ext>
            </a:extLst>
          </p:cNvPr>
          <p:cNvSpPr>
            <a:spLocks noGrp="1"/>
          </p:cNvSpPr>
          <p:nvPr>
            <p:ph idx="1"/>
          </p:nvPr>
        </p:nvSpPr>
        <p:spPr>
          <a:xfrm>
            <a:off x="304800" y="381000"/>
            <a:ext cx="8534400" cy="5745163"/>
          </a:xfrm>
        </p:spPr>
        <p:txBody>
          <a:bodyPr>
            <a:normAutofit/>
          </a:bodyPr>
          <a:lstStyle/>
          <a:p>
            <a:pPr marL="0" lvl="0" indent="0" algn="just">
              <a:buNone/>
            </a:pPr>
            <a:r>
              <a:rPr lang="en-US" sz="2800" b="1" dirty="0"/>
              <a:t>3)Enumeration</a:t>
            </a:r>
            <a:r>
              <a:rPr lang="en-US" sz="2800" dirty="0"/>
              <a:t> – the process of extracting more detailed information about the information obtained during the scanning phase to determine its usefulness.</a:t>
            </a:r>
          </a:p>
          <a:p>
            <a:pPr lvl="0" algn="just"/>
            <a:r>
              <a:rPr lang="en-US" sz="2800" dirty="0"/>
              <a:t> Some of the methods : SMTP enumeration, DNS enumeration, etc.</a:t>
            </a:r>
          </a:p>
          <a:p>
            <a:pPr marL="0" lvl="0" indent="0" algn="just">
              <a:buNone/>
            </a:pPr>
            <a:r>
              <a:rPr lang="en-US" sz="2800" b="1" dirty="0"/>
              <a:t>4)System hacking</a:t>
            </a:r>
            <a:r>
              <a:rPr lang="en-US" sz="2800" dirty="0"/>
              <a:t> – the process of planning and executing the attack based on the information obtained in the previous phases. In this phase the attacker performs the actual hacking process using hacking tools.</a:t>
            </a:r>
          </a:p>
          <a:p>
            <a:pPr algn="just"/>
            <a:endParaRPr lang="en-US" sz="2800" dirty="0"/>
          </a:p>
        </p:txBody>
      </p:sp>
    </p:spTree>
    <p:extLst>
      <p:ext uri="{BB962C8B-B14F-4D97-AF65-F5344CB8AC3E}">
        <p14:creationId xmlns:p14="http://schemas.microsoft.com/office/powerpoint/2010/main" val="364377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AC9FD-289D-4F88-91C8-FC07BF2BFD44}"/>
              </a:ext>
            </a:extLst>
          </p:cNvPr>
          <p:cNvSpPr>
            <a:spLocks noGrp="1"/>
          </p:cNvSpPr>
          <p:nvPr>
            <p:ph idx="1"/>
          </p:nvPr>
        </p:nvSpPr>
        <p:spPr>
          <a:xfrm>
            <a:off x="76200" y="152400"/>
            <a:ext cx="8915400" cy="6553200"/>
          </a:xfrm>
        </p:spPr>
        <p:txBody>
          <a:bodyPr>
            <a:normAutofit/>
          </a:bodyPr>
          <a:lstStyle/>
          <a:p>
            <a:pPr marL="0" lvl="0" indent="0" algn="just">
              <a:buNone/>
            </a:pPr>
            <a:r>
              <a:rPr lang="en-US" sz="2400" b="1" dirty="0"/>
              <a:t>5)Escalation of privilege</a:t>
            </a:r>
            <a:r>
              <a:rPr lang="en-US" sz="2400" dirty="0"/>
              <a:t> – the process of obtaining privileges that are granted to higher privileged accounts.</a:t>
            </a:r>
          </a:p>
          <a:p>
            <a:pPr lvl="0" algn="just"/>
            <a:r>
              <a:rPr lang="en-US" sz="2400" dirty="0"/>
              <a:t>The goal of this step is to move from a low-level account (such as a guest account) all the way up to administrator.</a:t>
            </a:r>
          </a:p>
          <a:p>
            <a:pPr marL="0" lvl="0" indent="0" algn="just">
              <a:buNone/>
            </a:pPr>
            <a:r>
              <a:rPr lang="en-US" sz="2400" b="1" dirty="0"/>
              <a:t>6)Covering tracks</a:t>
            </a:r>
            <a:r>
              <a:rPr lang="en-US" sz="2400" dirty="0"/>
              <a:t> – the process of removing any evidence of the attacker’s presence in a system. </a:t>
            </a:r>
          </a:p>
          <a:p>
            <a:pPr algn="just"/>
            <a:r>
              <a:rPr lang="en-US" sz="2400" dirty="0"/>
              <a:t>The attacker purges log files and removes other evidence needed for the owner of the system to determine that an attack </a:t>
            </a:r>
            <a:r>
              <a:rPr lang="en-US" sz="2400" dirty="0" err="1"/>
              <a:t>occured</a:t>
            </a:r>
            <a:r>
              <a:rPr lang="en-US" sz="2400" dirty="0"/>
              <a:t>.</a:t>
            </a:r>
          </a:p>
          <a:p>
            <a:pPr marL="0" lvl="0" indent="0" algn="just">
              <a:buNone/>
            </a:pPr>
            <a:r>
              <a:rPr lang="en-US" sz="2400" b="1" dirty="0"/>
              <a:t>7)Planting backdoors</a:t>
            </a:r>
            <a:r>
              <a:rPr lang="en-US" sz="2400" dirty="0"/>
              <a:t> – the process of securing unauthorized remote access to a computer, so the attacker can access the system later without being detected. </a:t>
            </a:r>
          </a:p>
          <a:p>
            <a:pPr algn="just"/>
            <a:r>
              <a:rPr lang="en-US" sz="2400" dirty="0"/>
              <a:t>Backdoors are usually computer programs that give an attacker the remote access to a targeted computer system.</a:t>
            </a:r>
          </a:p>
          <a:p>
            <a:pPr algn="just"/>
            <a:endParaRPr lang="en-US" sz="2400" dirty="0"/>
          </a:p>
        </p:txBody>
      </p:sp>
    </p:spTree>
    <p:extLst>
      <p:ext uri="{BB962C8B-B14F-4D97-AF65-F5344CB8AC3E}">
        <p14:creationId xmlns:p14="http://schemas.microsoft.com/office/powerpoint/2010/main" val="3310654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9D5229-4740-4830-8CB2-7165B1C15220}"/>
              </a:ext>
            </a:extLst>
          </p:cNvPr>
          <p:cNvSpPr>
            <a:spLocks noGrp="1"/>
          </p:cNvSpPr>
          <p:nvPr>
            <p:ph idx="1"/>
          </p:nvPr>
        </p:nvSpPr>
        <p:spPr>
          <a:xfrm>
            <a:off x="457200" y="304801"/>
            <a:ext cx="8229600" cy="3581400"/>
          </a:xfrm>
        </p:spPr>
        <p:txBody>
          <a:bodyPr>
            <a:normAutofit/>
          </a:bodyPr>
          <a:lstStyle/>
          <a:p>
            <a:r>
              <a:rPr lang="en-IN" sz="2800" b="1" u="sng" dirty="0" err="1"/>
              <a:t>McCumber</a:t>
            </a:r>
            <a:r>
              <a:rPr lang="en-IN" sz="2800" b="1" u="sng" dirty="0"/>
              <a:t>  Model</a:t>
            </a:r>
            <a:br>
              <a:rPr lang="en-IN" sz="2800" b="1" dirty="0"/>
            </a:br>
            <a:r>
              <a:rPr lang="en-IN" sz="2800" dirty="0"/>
              <a:t>In 1991, John </a:t>
            </a:r>
            <a:r>
              <a:rPr lang="en-IN" sz="2800" dirty="0" err="1"/>
              <a:t>McCumber</a:t>
            </a:r>
            <a:r>
              <a:rPr lang="en-IN" sz="2800" dirty="0"/>
              <a:t> created a model framework for establishing and evaluating information security (</a:t>
            </a:r>
            <a:r>
              <a:rPr lang="en-IN" sz="2800" u="sng" dirty="0">
                <a:hlinkClick r:id="rId2" tooltip="Information assurance"/>
              </a:rPr>
              <a:t>information assurance</a:t>
            </a:r>
            <a:r>
              <a:rPr lang="en-IN" sz="2800" dirty="0"/>
              <a:t>) programs, now known as The </a:t>
            </a:r>
            <a:r>
              <a:rPr lang="en-IN" sz="2800" dirty="0" err="1"/>
              <a:t>McCumber</a:t>
            </a:r>
            <a:r>
              <a:rPr lang="en-IN" sz="2800" dirty="0"/>
              <a:t> Cube. This security model is depicted as a </a:t>
            </a:r>
            <a:r>
              <a:rPr lang="en-IN" sz="2800" u="sng" dirty="0">
                <a:hlinkClick r:id="rId3" tooltip="Dimension"/>
              </a:rPr>
              <a:t>three-dimensional</a:t>
            </a:r>
            <a:r>
              <a:rPr lang="en-IN" sz="2800" dirty="0"/>
              <a:t> </a:t>
            </a:r>
            <a:r>
              <a:rPr lang="en-IN" sz="2800" u="sng" dirty="0">
                <a:hlinkClick r:id="rId4" tooltip="Rubik's Cube"/>
              </a:rPr>
              <a:t>Rubik's Cube</a:t>
            </a:r>
            <a:r>
              <a:rPr lang="en-IN" sz="2800" dirty="0"/>
              <a:t>-like grid.</a:t>
            </a:r>
            <a:endParaRPr lang="en-US" sz="2800" b="1" dirty="0"/>
          </a:p>
          <a:p>
            <a:endParaRPr lang="en-US" sz="2800" dirty="0"/>
          </a:p>
        </p:txBody>
      </p:sp>
      <p:pic>
        <p:nvPicPr>
          <p:cNvPr id="4" name="Picture 3" descr="The Original McCumber Model">
            <a:extLst>
              <a:ext uri="{FF2B5EF4-FFF2-40B4-BE49-F238E27FC236}">
                <a16:creationId xmlns:a16="http://schemas.microsoft.com/office/drawing/2014/main" id="{21241DCF-8BCF-4CB2-A6B6-7D5A99A4CF5E}"/>
              </a:ext>
            </a:extLst>
          </p:cNvPr>
          <p:cNvPicPr/>
          <p:nvPr/>
        </p:nvPicPr>
        <p:blipFill rotWithShape="1">
          <a:blip r:embed="rId5"/>
          <a:srcRect t="24592" b="5005"/>
          <a:stretch/>
        </p:blipFill>
        <p:spPr bwMode="auto">
          <a:xfrm>
            <a:off x="1752600" y="3124200"/>
            <a:ext cx="5400675" cy="358139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9678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5D6296-0AB2-4D60-A46E-9AB3A3C6C943}"/>
              </a:ext>
            </a:extLst>
          </p:cNvPr>
          <p:cNvSpPr>
            <a:spLocks noGrp="1"/>
          </p:cNvSpPr>
          <p:nvPr>
            <p:ph idx="1"/>
          </p:nvPr>
        </p:nvSpPr>
        <p:spPr>
          <a:xfrm>
            <a:off x="533400" y="304800"/>
            <a:ext cx="8229600" cy="6324600"/>
          </a:xfrm>
        </p:spPr>
        <p:txBody>
          <a:bodyPr>
            <a:normAutofit/>
          </a:bodyPr>
          <a:lstStyle/>
          <a:p>
            <a:pPr algn="just"/>
            <a:r>
              <a:rPr lang="en-US" dirty="0"/>
              <a:t>The concept of this model is that, in developing </a:t>
            </a:r>
            <a:r>
              <a:rPr lang="en-US" u="sng" dirty="0">
                <a:hlinkClick r:id="rId2" tooltip="Information assurance"/>
              </a:rPr>
              <a:t>information assurance</a:t>
            </a:r>
            <a:r>
              <a:rPr lang="en-US" dirty="0"/>
              <a:t> systems, organizations must consider the interconnectedness of all the different factors that impact them. </a:t>
            </a:r>
          </a:p>
          <a:p>
            <a:pPr algn="just"/>
            <a:r>
              <a:rPr lang="en-US" dirty="0"/>
              <a:t>. To devise a robust </a:t>
            </a:r>
            <a:r>
              <a:rPr lang="en-US" u="sng" dirty="0">
                <a:hlinkClick r:id="rId2" tooltip="Information assurance"/>
              </a:rPr>
              <a:t>information assurance</a:t>
            </a:r>
            <a:r>
              <a:rPr lang="en-US" dirty="0"/>
              <a:t> program, one must consider not only the security goals of the program. </a:t>
            </a:r>
          </a:p>
          <a:p>
            <a:pPr algn="just"/>
            <a:r>
              <a:rPr lang="en-US" dirty="0"/>
              <a:t>The </a:t>
            </a:r>
            <a:r>
              <a:rPr lang="en-US" dirty="0" err="1"/>
              <a:t>McCumber</a:t>
            </a:r>
            <a:r>
              <a:rPr lang="en-US" dirty="0"/>
              <a:t> model helps one to remember to consider all important design aspects without becoming too focused on any one in particular </a:t>
            </a:r>
          </a:p>
        </p:txBody>
      </p:sp>
    </p:spTree>
    <p:extLst>
      <p:ext uri="{BB962C8B-B14F-4D97-AF65-F5344CB8AC3E}">
        <p14:creationId xmlns:p14="http://schemas.microsoft.com/office/powerpoint/2010/main" val="2143649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2A9015-8BC3-4DBE-8DD0-5B594DD035C4}"/>
              </a:ext>
            </a:extLst>
          </p:cNvPr>
          <p:cNvSpPr>
            <a:spLocks noGrp="1"/>
          </p:cNvSpPr>
          <p:nvPr>
            <p:ph idx="1"/>
          </p:nvPr>
        </p:nvSpPr>
        <p:spPr>
          <a:xfrm>
            <a:off x="457200" y="381000"/>
            <a:ext cx="8229600" cy="5745163"/>
          </a:xfrm>
        </p:spPr>
        <p:txBody>
          <a:bodyPr>
            <a:normAutofit fontScale="92500"/>
          </a:bodyPr>
          <a:lstStyle/>
          <a:p>
            <a:pPr algn="just" fontAlgn="base"/>
            <a:r>
              <a:rPr lang="en-US" b="1" u="sng" dirty="0"/>
              <a:t>Dimensions and attributes</a:t>
            </a:r>
            <a:endParaRPr lang="en-US" b="1" dirty="0"/>
          </a:p>
          <a:p>
            <a:pPr algn="just" fontAlgn="base"/>
            <a:r>
              <a:rPr lang="en-US" b="1" dirty="0"/>
              <a:t>Desired goals</a:t>
            </a:r>
          </a:p>
          <a:p>
            <a:pPr lvl="0" algn="just" fontAlgn="base"/>
            <a:r>
              <a:rPr lang="en-US" u="sng" dirty="0">
                <a:hlinkClick r:id="rId2" tooltip="Confidentiality"/>
              </a:rPr>
              <a:t>Confidentiality</a:t>
            </a:r>
            <a:r>
              <a:rPr lang="en-US" dirty="0"/>
              <a:t>: assurance that sensitive information is not intentionally or accidentally disclosed to unauthorized individuals.</a:t>
            </a:r>
          </a:p>
          <a:p>
            <a:pPr lvl="0" algn="just" fontAlgn="base"/>
            <a:r>
              <a:rPr lang="en-US" u="sng" dirty="0">
                <a:hlinkClick r:id="rId3" tooltip="Integrity"/>
              </a:rPr>
              <a:t>Integrity</a:t>
            </a:r>
            <a:r>
              <a:rPr lang="en-US" dirty="0"/>
              <a:t>: assurance that information is not intentionally or accidentally modified in such a way as to call into question its reliability.</a:t>
            </a:r>
          </a:p>
          <a:p>
            <a:pPr lvl="0" algn="just" fontAlgn="base"/>
            <a:r>
              <a:rPr lang="en-US" u="sng" dirty="0">
                <a:hlinkClick r:id="rId4" tooltip="Availability"/>
              </a:rPr>
              <a:t>Availability</a:t>
            </a:r>
            <a:r>
              <a:rPr lang="en-US" dirty="0"/>
              <a:t>: ensuring that authorized individuals have both timely and reliable access to data and other resources when needed.</a:t>
            </a:r>
          </a:p>
          <a:p>
            <a:pPr algn="just"/>
            <a:endParaRPr lang="en-US" dirty="0"/>
          </a:p>
        </p:txBody>
      </p:sp>
    </p:spTree>
    <p:extLst>
      <p:ext uri="{BB962C8B-B14F-4D97-AF65-F5344CB8AC3E}">
        <p14:creationId xmlns:p14="http://schemas.microsoft.com/office/powerpoint/2010/main" val="3172081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4C3E26-3D51-4015-A8B7-4F004E8DA61C}"/>
              </a:ext>
            </a:extLst>
          </p:cNvPr>
          <p:cNvSpPr>
            <a:spLocks noGrp="1"/>
          </p:cNvSpPr>
          <p:nvPr>
            <p:ph idx="1"/>
          </p:nvPr>
        </p:nvSpPr>
        <p:spPr>
          <a:xfrm>
            <a:off x="457200" y="0"/>
            <a:ext cx="8229600" cy="6126163"/>
          </a:xfrm>
        </p:spPr>
        <p:txBody>
          <a:bodyPr>
            <a:normAutofit/>
          </a:bodyPr>
          <a:lstStyle/>
          <a:p>
            <a:pPr algn="just" fontAlgn="base"/>
            <a:r>
              <a:rPr lang="en-US" b="1" u="sng" dirty="0"/>
              <a:t>Information states</a:t>
            </a:r>
            <a:endParaRPr lang="en-US" b="1" dirty="0"/>
          </a:p>
          <a:p>
            <a:pPr lvl="0" algn="just" fontAlgn="base"/>
            <a:r>
              <a:rPr lang="en-US" dirty="0"/>
              <a:t>Storage: </a:t>
            </a:r>
            <a:r>
              <a:rPr lang="en-US" b="1" dirty="0"/>
              <a:t>Data at rest (DAR)</a:t>
            </a:r>
            <a:r>
              <a:rPr lang="en-US" dirty="0"/>
              <a:t> in an information system, such as that stored in memory or on a magnetic tape or disk.</a:t>
            </a:r>
          </a:p>
          <a:p>
            <a:pPr lvl="0" algn="just" fontAlgn="base"/>
            <a:r>
              <a:rPr lang="en-US" dirty="0"/>
              <a:t>Transmission: transferring data between information systems - also known as </a:t>
            </a:r>
            <a:r>
              <a:rPr lang="en-US" b="1" u="sng" dirty="0">
                <a:hlinkClick r:id="rId2" tooltip="Data in transit"/>
              </a:rPr>
              <a:t>data in transit</a:t>
            </a:r>
            <a:r>
              <a:rPr lang="en-US" b="1" dirty="0"/>
              <a:t> (DIT)</a:t>
            </a:r>
            <a:r>
              <a:rPr lang="en-US" dirty="0"/>
              <a:t>.</a:t>
            </a:r>
          </a:p>
          <a:p>
            <a:pPr lvl="0" algn="just" fontAlgn="base"/>
            <a:r>
              <a:rPr lang="en-US" dirty="0"/>
              <a:t>Processing: performing operations on data in order to achieve a desired objective.</a:t>
            </a:r>
          </a:p>
          <a:p>
            <a:pPr algn="just"/>
            <a:endParaRPr lang="en-US" dirty="0"/>
          </a:p>
        </p:txBody>
      </p:sp>
    </p:spTree>
    <p:extLst>
      <p:ext uri="{BB962C8B-B14F-4D97-AF65-F5344CB8AC3E}">
        <p14:creationId xmlns:p14="http://schemas.microsoft.com/office/powerpoint/2010/main" val="1905450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B1B53-0D02-4DF0-9E85-2E2C560FAE4E}"/>
              </a:ext>
            </a:extLst>
          </p:cNvPr>
          <p:cNvSpPr>
            <a:spLocks noGrp="1"/>
          </p:cNvSpPr>
          <p:nvPr>
            <p:ph idx="1"/>
          </p:nvPr>
        </p:nvSpPr>
        <p:spPr>
          <a:xfrm>
            <a:off x="457200" y="152400"/>
            <a:ext cx="8229600" cy="5973763"/>
          </a:xfrm>
        </p:spPr>
        <p:txBody>
          <a:bodyPr>
            <a:normAutofit fontScale="92500" lnSpcReduction="20000"/>
          </a:bodyPr>
          <a:lstStyle/>
          <a:p>
            <a:pPr algn="just" fontAlgn="base"/>
            <a:r>
              <a:rPr lang="en-US" b="1" u="sng" dirty="0"/>
              <a:t>Safeguards</a:t>
            </a:r>
            <a:endParaRPr lang="en-US" b="1" dirty="0"/>
          </a:p>
          <a:p>
            <a:pPr lvl="0" algn="just" fontAlgn="base"/>
            <a:r>
              <a:rPr lang="en-US" dirty="0"/>
              <a:t>Policy and practices: administrative controls, such as management directives, that provide a foundation for how </a:t>
            </a:r>
            <a:r>
              <a:rPr lang="en-US" u="sng" dirty="0">
                <a:hlinkClick r:id="rId2" tooltip="Information assurance"/>
              </a:rPr>
              <a:t>information assurance</a:t>
            </a:r>
            <a:r>
              <a:rPr lang="en-US" dirty="0"/>
              <a:t> is to be implemented within an organization. </a:t>
            </a:r>
          </a:p>
          <a:p>
            <a:pPr lvl="0" algn="just" fontAlgn="base"/>
            <a:r>
              <a:rPr lang="en-US" dirty="0"/>
              <a:t>Human factors: ensuring that the users of information systems are aware of their roles and responsibilities regarding the protection of information systems and are capable of following standards</a:t>
            </a:r>
          </a:p>
          <a:p>
            <a:pPr lvl="0" algn="just" fontAlgn="base"/>
            <a:r>
              <a:rPr lang="en-US" b="1" dirty="0"/>
              <a:t>Technology</a:t>
            </a:r>
            <a:r>
              <a:rPr lang="en-US" dirty="0"/>
              <a:t>: software and hardware-based solutions designed to protect information systems (examples: anti-virus, firewalls, intrusion detection systems, etc.)</a:t>
            </a:r>
          </a:p>
          <a:p>
            <a:pPr algn="just"/>
            <a:endParaRPr lang="en-US" dirty="0"/>
          </a:p>
        </p:txBody>
      </p:sp>
    </p:spTree>
    <p:extLst>
      <p:ext uri="{BB962C8B-B14F-4D97-AF65-F5344CB8AC3E}">
        <p14:creationId xmlns:p14="http://schemas.microsoft.com/office/powerpoint/2010/main" val="94190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0"/>
            <a:ext cx="8458200" cy="6858000"/>
          </a:xfrm>
        </p:spPr>
        <p:txBody>
          <a:bodyPr>
            <a:normAutofit fontScale="92500" lnSpcReduction="20000"/>
          </a:bodyPr>
          <a:lstStyle/>
          <a:p>
            <a:r>
              <a:rPr lang="en-US" b="1" u="sng" dirty="0">
                <a:solidFill>
                  <a:schemeClr val="tx1"/>
                </a:solidFill>
                <a:latin typeface="Times New Roman" pitchFamily="18" charset="0"/>
                <a:cs typeface="Times New Roman" pitchFamily="18" charset="0"/>
              </a:rPr>
              <a:t>Defense-in-depth</a:t>
            </a:r>
            <a:r>
              <a:rPr lang="en-US" dirty="0">
                <a:solidFill>
                  <a:schemeClr val="tx1"/>
                </a:solidFill>
                <a:latin typeface="Times New Roman" pitchFamily="18" charset="0"/>
                <a:cs typeface="Times New Roman" pitchFamily="18" charset="0"/>
              </a:rPr>
              <a:t> </a:t>
            </a:r>
          </a:p>
          <a:p>
            <a:pPr algn="just">
              <a:lnSpc>
                <a:spcPct val="150000"/>
              </a:lnSpc>
            </a:pPr>
            <a:r>
              <a:rPr lang="en-US" dirty="0">
                <a:solidFill>
                  <a:schemeClr val="tx1"/>
                </a:solidFill>
                <a:latin typeface="Times New Roman" pitchFamily="18" charset="0"/>
                <a:cs typeface="Times New Roman" pitchFamily="18" charset="0"/>
              </a:rPr>
              <a:t>is </a:t>
            </a:r>
            <a:r>
              <a:rPr lang="en-US" b="1" dirty="0">
                <a:solidFill>
                  <a:schemeClr val="tx1"/>
                </a:solidFill>
                <a:latin typeface="Times New Roman" pitchFamily="18" charset="0"/>
                <a:cs typeface="Times New Roman" pitchFamily="18" charset="0"/>
              </a:rPr>
              <a:t>an information assurance strategy that provides multiple, redundant defensive measures in case a security control fails or a vulnerability is exploited</a:t>
            </a:r>
            <a:r>
              <a:rPr lang="en-US" dirty="0">
                <a:solidFill>
                  <a:schemeClr val="tx1"/>
                </a:solidFill>
                <a:latin typeface="Times New Roman" pitchFamily="18" charset="0"/>
                <a:cs typeface="Times New Roman" pitchFamily="18" charset="0"/>
              </a:rPr>
              <a:t>.</a:t>
            </a:r>
          </a:p>
          <a:p>
            <a:pPr algn="just">
              <a:lnSpc>
                <a:spcPct val="150000"/>
              </a:lnSpc>
            </a:pPr>
            <a:endParaRPr lang="en-US" dirty="0">
              <a:solidFill>
                <a:schemeClr val="tx1"/>
              </a:solidFill>
              <a:latin typeface="Times New Roman" pitchFamily="18" charset="0"/>
              <a:cs typeface="Times New Roman" pitchFamily="18" charset="0"/>
            </a:endParaRPr>
          </a:p>
          <a:p>
            <a:pPr algn="just">
              <a:lnSpc>
                <a:spcPct val="150000"/>
              </a:lnSpc>
            </a:pPr>
            <a:r>
              <a:rPr lang="en-US" b="1" dirty="0">
                <a:solidFill>
                  <a:schemeClr val="tx1"/>
                </a:solidFill>
                <a:latin typeface="Times New Roman" pitchFamily="18" charset="0"/>
                <a:cs typeface="Times New Roman" pitchFamily="18" charset="0"/>
              </a:rPr>
              <a:t>Defense in Depth (</a:t>
            </a:r>
            <a:r>
              <a:rPr lang="en-US" b="1" dirty="0" err="1">
                <a:solidFill>
                  <a:schemeClr val="tx1"/>
                </a:solidFill>
                <a:latin typeface="Times New Roman" pitchFamily="18" charset="0"/>
                <a:cs typeface="Times New Roman" pitchFamily="18" charset="0"/>
              </a:rPr>
              <a:t>DiD</a:t>
            </a:r>
            <a:r>
              <a:rPr lang="en-US" b="1" dirty="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refers to an information security approach in which a series of security mechanisms and controls are thoughtfully layered throughout a computer network </a:t>
            </a:r>
            <a:r>
              <a:rPr lang="en-US" b="1" dirty="0">
                <a:solidFill>
                  <a:schemeClr val="tx1"/>
                </a:solidFill>
                <a:latin typeface="Times New Roman" pitchFamily="18" charset="0"/>
                <a:cs typeface="Times New Roman" pitchFamily="18" charset="0"/>
              </a:rPr>
              <a:t>to protect the confidentiality, integrity, and availability of the network and the data within</a:t>
            </a:r>
            <a:r>
              <a:rPr lang="en-US" dirty="0">
                <a:solidFill>
                  <a:schemeClr val="tx1"/>
                </a:solidFill>
                <a:latin typeface="Times New Roman" pitchFamily="18" charset="0"/>
                <a:cs typeface="Times New Roman"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296400" cy="1417638"/>
          </a:xfrm>
        </p:spPr>
        <p:txBody>
          <a:bodyPr>
            <a:noAutofit/>
          </a:bodyPr>
          <a:lstStyle/>
          <a:p>
            <a:pPr algn="just">
              <a:buFont typeface="Wingdings" pitchFamily="2" charset="2"/>
              <a:buChar char="Ø"/>
            </a:pPr>
            <a:r>
              <a:rPr lang="en-US" sz="3200" dirty="0">
                <a:latin typeface="Times New Roman" pitchFamily="18" charset="0"/>
                <a:cs typeface="Times New Roman" pitchFamily="18" charset="0"/>
              </a:rPr>
              <a:t>Defense in depth can be divided into three areas: </a:t>
            </a:r>
            <a:r>
              <a:rPr lang="en-US" sz="3200" b="1" dirty="0">
                <a:latin typeface="Times New Roman" pitchFamily="18" charset="0"/>
                <a:cs typeface="Times New Roman" pitchFamily="18" charset="0"/>
              </a:rPr>
              <a:t>Physical, Technical, and Administrative</a:t>
            </a:r>
            <a:r>
              <a:rPr lang="en-US" sz="3200" dirty="0">
                <a:latin typeface="Times New Roman" pitchFamily="18" charset="0"/>
                <a:cs typeface="Times New Roman" pitchFamily="18" charset="0"/>
              </a:rPr>
              <a:t>.</a:t>
            </a:r>
          </a:p>
        </p:txBody>
      </p:sp>
      <p:pic>
        <p:nvPicPr>
          <p:cNvPr id="1026" name="Picture 2" descr="C:\Users\admin\Desktop\defense-in-depth.jpg"/>
          <p:cNvPicPr>
            <a:picLocks noGrp="1" noChangeAspect="1" noChangeArrowheads="1"/>
          </p:cNvPicPr>
          <p:nvPr>
            <p:ph idx="1"/>
          </p:nvPr>
        </p:nvPicPr>
        <p:blipFill>
          <a:blip r:embed="rId2" cstate="print"/>
          <a:srcRect/>
          <a:stretch>
            <a:fillRect/>
          </a:stretch>
        </p:blipFill>
        <p:spPr bwMode="auto">
          <a:xfrm>
            <a:off x="457200" y="1219200"/>
            <a:ext cx="8001000" cy="56388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477000"/>
          </a:xfrm>
        </p:spPr>
        <p:txBody>
          <a:bodyPr>
            <a:noAutofit/>
          </a:bodyPr>
          <a:lstStyle/>
          <a:p>
            <a:pPr algn="ctr">
              <a:buNone/>
            </a:pPr>
            <a:r>
              <a:rPr lang="en-US" sz="3600" b="1" dirty="0">
                <a:latin typeface="Times New Roman" pitchFamily="18" charset="0"/>
                <a:cs typeface="Times New Roman" pitchFamily="18" charset="0"/>
              </a:rPr>
              <a:t>Administrative controls</a:t>
            </a:r>
            <a:br>
              <a:rPr lang="en-US" sz="2800" dirty="0">
                <a:latin typeface="Times New Roman" pitchFamily="18" charset="0"/>
                <a:cs typeface="Times New Roman" pitchFamily="18" charset="0"/>
              </a:rPr>
            </a:br>
            <a:endParaRPr lang="en-US" sz="2800" dirty="0">
              <a:latin typeface="Times New Roman" pitchFamily="18" charset="0"/>
              <a:cs typeface="Times New Roman" pitchFamily="18" charset="0"/>
            </a:endParaRPr>
          </a:p>
          <a:p>
            <a:pPr algn="just">
              <a:buNone/>
            </a:pPr>
            <a:r>
              <a:rPr lang="en-US" sz="2800" dirty="0">
                <a:latin typeface="Times New Roman" pitchFamily="18" charset="0"/>
                <a:cs typeface="Times New Roman" pitchFamily="18" charset="0"/>
              </a:rPr>
              <a:t>Administrative controls consist of policies and procedures put in place by an organization to minimize vulnerabilities and to prevent users within the company from accessing information they are not authorized to access. Some layers of administrative controls could include:</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Making sure that only current employees have user accounts, by putting a procedure in place to close an employee's account on the network in the event that someone leaves the company.</a:t>
            </a:r>
          </a:p>
          <a:p>
            <a:pPr algn="just">
              <a:buNone/>
            </a:pPr>
            <a:br>
              <a:rPr lang="en-US" sz="2800" dirty="0">
                <a:latin typeface="Times New Roman" pitchFamily="18" charset="0"/>
                <a:cs typeface="Times New Roman" pitchFamily="18" charset="0"/>
              </a:rPr>
            </a:br>
            <a:br>
              <a:rPr lang="en-US" sz="2800" dirty="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2050" name="AutoShape 2" descr="https://www.ericom.com/whatis/media/user%20account.sv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lnSpcReduction="10000"/>
          </a:bodyPr>
          <a:lstStyle/>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Putting detailed policies and procedures in place to ensure that all employees take the mandated steps required to secure corporate data, especially sensitive data.</a:t>
            </a:r>
          </a:p>
          <a:p>
            <a:pPr algn="just">
              <a:buNone/>
            </a:pP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Implementing role-based access control, which enables employees to only access the actual data that they need to do their own jobs. See our article on access control for more information about different access control schemes.</a:t>
            </a:r>
          </a:p>
          <a:p>
            <a:pPr algn="just"/>
            <a:endParaRPr lang="en-US"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5897563"/>
          </a:xfrm>
        </p:spPr>
        <p:txBody>
          <a:bodyPr>
            <a:normAutofit/>
          </a:bodyPr>
          <a:lstStyle/>
          <a:p>
            <a:pPr algn="just"/>
            <a:r>
              <a:rPr lang="en-US" sz="3600" dirty="0">
                <a:latin typeface="Times New Roman" pitchFamily="18" charset="0"/>
                <a:cs typeface="Times New Roman" pitchFamily="18" charset="0"/>
              </a:rPr>
              <a:t>Implementing role-based access control, which enables employees to only access the actual data that they need to do their own jobs. </a:t>
            </a:r>
          </a:p>
          <a:p>
            <a:pPr algn="just"/>
            <a:endParaRPr lang="en-US" sz="3600" dirty="0">
              <a:latin typeface="Times New Roman" pitchFamily="18" charset="0"/>
              <a:cs typeface="Times New Roman" pitchFamily="18" charset="0"/>
            </a:endParaRPr>
          </a:p>
          <a:p>
            <a:pPr algn="just"/>
            <a:r>
              <a:rPr lang="en-US" sz="3600" dirty="0">
                <a:latin typeface="Times New Roman" pitchFamily="18" charset="0"/>
                <a:cs typeface="Times New Roman" pitchFamily="18" charset="0"/>
              </a:rPr>
              <a:t>Minimizing the use of privileged accounts, such as administrator accounts, and placing additional restrictions on their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762000"/>
          </a:xfrm>
        </p:spPr>
        <p:txBody>
          <a:bodyPr>
            <a:normAutofit/>
          </a:bodyPr>
          <a:lstStyle/>
          <a:p>
            <a:r>
              <a:rPr lang="en-US" sz="3600" b="1" dirty="0">
                <a:latin typeface="Times New Roman" pitchFamily="18" charset="0"/>
                <a:cs typeface="Times New Roman" pitchFamily="18" charset="0"/>
              </a:rPr>
              <a:t>Physical controls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1219200"/>
            <a:ext cx="8610600" cy="5334000"/>
          </a:xfrm>
        </p:spPr>
        <p:txBody>
          <a:bodyPr>
            <a:noAutofit/>
          </a:bodyPr>
          <a:lstStyle/>
          <a:p>
            <a:pPr algn="just">
              <a:buNone/>
            </a:pPr>
            <a:r>
              <a:rPr lang="en-US" sz="2800" dirty="0">
                <a:latin typeface="Times New Roman" pitchFamily="18" charset="0"/>
                <a:cs typeface="Times New Roman" pitchFamily="18" charset="0"/>
              </a:rPr>
              <a:t>Physical controls are another crucial aspect of the layered approach. These include anything that prevents actual physical access to the IT system. For example:</a:t>
            </a:r>
          </a:p>
          <a:p>
            <a:pPr algn="just"/>
            <a:r>
              <a:rPr lang="en-US" sz="2800" dirty="0">
                <a:latin typeface="Times New Roman" pitchFamily="18" charset="0"/>
                <a:cs typeface="Times New Roman" pitchFamily="18" charset="0"/>
              </a:rPr>
              <a:t>Physical doors with locks in any area with computer equipment.</a:t>
            </a:r>
          </a:p>
          <a:p>
            <a:pPr algn="just"/>
            <a:r>
              <a:rPr lang="en-US" sz="2800" dirty="0">
                <a:latin typeface="Times New Roman" pitchFamily="18" charset="0"/>
                <a:cs typeface="Times New Roman" pitchFamily="18" charset="0"/>
              </a:rPr>
              <a:t>Fingerprint scanners for access to areas with computer equipment, and/or for logging into the system.</a:t>
            </a:r>
          </a:p>
          <a:p>
            <a:pPr algn="just"/>
            <a:r>
              <a:rPr lang="en-US" sz="2800" dirty="0">
                <a:latin typeface="Times New Roman" pitchFamily="18" charset="0"/>
                <a:cs typeface="Times New Roman" pitchFamily="18" charset="0"/>
              </a:rPr>
              <a:t>CCTV footage as a deterrent and to alert security to any possible cyber threats.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algn="just"/>
            <a:r>
              <a:rPr lang="en-US" dirty="0">
                <a:latin typeface="Times New Roman" pitchFamily="18" charset="0"/>
                <a:cs typeface="Times New Roman" pitchFamily="18" charset="0"/>
              </a:rPr>
              <a:t>Security guards to monitor the area.</a:t>
            </a:r>
          </a:p>
          <a:p>
            <a:pPr algn="just"/>
            <a:r>
              <a:rPr lang="en-US" dirty="0">
                <a:latin typeface="Times New Roman" pitchFamily="18" charset="0"/>
                <a:cs typeface="Times New Roman" pitchFamily="18" charset="0"/>
              </a:rPr>
              <a:t>Gates to prevent easy access to the site.</a:t>
            </a:r>
          </a:p>
          <a:p>
            <a:pPr algn="just"/>
            <a:r>
              <a:rPr lang="en-US" dirty="0">
                <a:latin typeface="Times New Roman" pitchFamily="18" charset="0"/>
                <a:cs typeface="Times New Roman" pitchFamily="18" charset="0"/>
              </a:rPr>
              <a:t>Layers of physical controls could be the types of things described in the heist movie example - the multiple layers of protection that prevent the burglars from gaining access to the jewels.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algn="just"/>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latin typeface="Times New Roman" pitchFamily="18" charset="0"/>
                <a:cs typeface="Times New Roman" pitchFamily="18" charset="0"/>
              </a:rPr>
              <a:t>Technical controls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915400" cy="5059363"/>
          </a:xfrm>
        </p:spPr>
        <p:txBody>
          <a:bodyPr>
            <a:noAutofit/>
          </a:bodyPr>
          <a:lstStyle/>
          <a:p>
            <a:r>
              <a:rPr lang="en-US" sz="3600" dirty="0">
                <a:latin typeface="Times New Roman" pitchFamily="18" charset="0"/>
                <a:cs typeface="Times New Roman" pitchFamily="18" charset="0"/>
              </a:rPr>
              <a:t>These controls include software and hardware-based information security solutions that prevent unauthorized access to the IT network. </a:t>
            </a:r>
          </a:p>
          <a:p>
            <a:r>
              <a:rPr lang="en-US" sz="3600" dirty="0">
                <a:latin typeface="Times New Roman" pitchFamily="18" charset="0"/>
                <a:cs typeface="Times New Roman" pitchFamily="18" charset="0"/>
              </a:rPr>
              <a:t>A combination of different hardware and software solutions provide the best protection from a wide array of cyber threats. </a:t>
            </a:r>
          </a:p>
          <a:p>
            <a:r>
              <a:rPr lang="en-US" sz="3600" dirty="0">
                <a:latin typeface="Times New Roman" pitchFamily="18" charset="0"/>
                <a:cs typeface="Times New Roman" pitchFamily="18" charset="0"/>
              </a:rPr>
              <a:t>Layers of technical controls could include the following:</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a:latin typeface="Times New Roman" pitchFamily="18" charset="0"/>
                <a:cs typeface="Times New Roman" pitchFamily="18" charset="0"/>
              </a:rPr>
              <a:t>Securing authorization</a:t>
            </a:r>
          </a:p>
          <a:p>
            <a:r>
              <a:rPr lang="en-US" dirty="0">
                <a:latin typeface="Times New Roman" pitchFamily="18" charset="0"/>
                <a:cs typeface="Times New Roman" pitchFamily="18" charset="0"/>
              </a:rPr>
              <a:t>Requiring users to use strong passwords that are difficult to guess or crack using password cracking tools.</a:t>
            </a:r>
          </a:p>
          <a:p>
            <a:r>
              <a:rPr lang="en-US" dirty="0">
                <a:latin typeface="Times New Roman" pitchFamily="18" charset="0"/>
                <a:cs typeface="Times New Roman" pitchFamily="18" charset="0"/>
              </a:rPr>
              <a:t>Two factor authentication or multi-factor authentication (2FA/ MFA) to further verify the user's identity by using multiple devices to login.</a:t>
            </a:r>
          </a:p>
          <a:p>
            <a:r>
              <a:rPr lang="en-US" dirty="0">
                <a:latin typeface="Times New Roman" pitchFamily="18" charset="0"/>
                <a:cs typeface="Times New Roman" pitchFamily="18" charset="0"/>
              </a:rPr>
              <a:t>Biometric authentication to ensure a user's identity through the use of facial recognition or fingerprint scanning, for example.</a:t>
            </a:r>
          </a:p>
          <a:p>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6386" name="Picture 2" descr="C:\Users\admin\Desktop\waf.png"/>
          <p:cNvPicPr>
            <a:picLocks noChangeAspect="1" noChangeArrowheads="1"/>
          </p:cNvPicPr>
          <p:nvPr/>
        </p:nvPicPr>
        <p:blipFill>
          <a:blip r:embed="rId2" cstate="print"/>
          <a:srcRect/>
          <a:stretch>
            <a:fillRect/>
          </a:stretch>
        </p:blipFill>
        <p:spPr bwMode="auto">
          <a:xfrm>
            <a:off x="228600" y="304800"/>
            <a:ext cx="8709409" cy="619184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a:latin typeface="Times New Roman" pitchFamily="18" charset="0"/>
                <a:cs typeface="Times New Roman" pitchFamily="18" charset="0"/>
              </a:rPr>
              <a:t>Anti spam software</a:t>
            </a:r>
          </a:p>
        </p:txBody>
      </p:sp>
      <p:pic>
        <p:nvPicPr>
          <p:cNvPr id="17410" name="Picture 2" descr="C:\Users\admin\Desktop\spam.png"/>
          <p:cNvPicPr>
            <a:picLocks noGrp="1" noChangeAspect="1" noChangeArrowheads="1"/>
          </p:cNvPicPr>
          <p:nvPr>
            <p:ph idx="1"/>
          </p:nvPr>
        </p:nvPicPr>
        <p:blipFill>
          <a:blip r:embed="rId2" cstate="print"/>
          <a:srcRect/>
          <a:stretch>
            <a:fillRect/>
          </a:stretch>
        </p:blipFill>
        <p:spPr bwMode="auto">
          <a:xfrm>
            <a:off x="487680" y="1828800"/>
            <a:ext cx="8229600" cy="4111578"/>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1183</Words>
  <Application>Microsoft Office PowerPoint</Application>
  <PresentationFormat>On-screen Show (4:3)</PresentationFormat>
  <Paragraphs>67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Defense in depth can be divided into three areas: Physical, Technical, and Administrative.</vt:lpstr>
      <vt:lpstr>PowerPoint Presentation</vt:lpstr>
      <vt:lpstr>PowerPoint Presentation</vt:lpstr>
      <vt:lpstr>PowerPoint Presentation</vt:lpstr>
      <vt:lpstr>Physical controls</vt:lpstr>
      <vt:lpstr>PowerPoint Presentation</vt:lpstr>
      <vt:lpstr>Technical controls</vt:lpstr>
      <vt:lpstr>PowerPoint Presentation</vt:lpstr>
      <vt:lpstr>PowerPoint Presentation</vt:lpstr>
      <vt:lpstr>Anti spam software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Nandini C V</cp:lastModifiedBy>
  <cp:revision>47</cp:revision>
  <dcterms:created xsi:type="dcterms:W3CDTF">2006-08-16T00:00:00Z</dcterms:created>
  <dcterms:modified xsi:type="dcterms:W3CDTF">2026-07-14T09:02:47Z</dcterms:modified>
</cp:coreProperties>
</file>